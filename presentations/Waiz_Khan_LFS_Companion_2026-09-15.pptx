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300 NTREX sentences in 128 languages are run once through a frozen base model. At every layer the hidden states of a text are mean-pooled in fp32 into one vector, so each layer gives a grid: one row per language, one column per sentence. Each coordinate is then standardized jointly over the whole grid, never per language, because per-language standardization would remove the language differences being measured.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total spread of the standardized grid splits exactly into a language part (how far the language means sit from the grand mean), a sentence part (the same for sentence means), and a residual (interaction plus noise). LFS is the language part as a share of the two systematic parts; the residual is excluded on purpose. Repeating this at every layer gives the depth profile, summarized by the minimum layer, the minimum share, and the dip depth.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two-language, three-sentence grid with one number per cell the arithmetic is visible: language means 6 and 9, sentence means 3.5, 7.5, 11.5, grand mean 7.5; the language part is 13.5, the sentence part 64, the residual 0, so LFS is 0.17. The real computation is the same over 4,096 coordinates. For Qwen3-8B at layer 19 the language part is 55.2 million and the sentence part 35.6 million, giving 0.608, against 0.945 at layer 0 and 0.958 at the last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17 primary models (direct sums of squares) and all 19 expansion models (the variance-component estimator, LFS-VC) have a profile that is high at the input, lowest at an interior layer, and high again at the output. Dip depth ranges nine-fold and is set by training recipe more than by size. The profile replicates on FLORES-200, is stable under sentence resampling, survives instruction tuning, and held on two model families whose predictions were frozen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at each model's dip layer, the average of the other languages predicts a language's vectors better than English does for 113 to 124 of 127 languages, so the shared middle is not English. Right: mapping each language into a shared reference space with nested maps, a per-language offset plus a scale removes 63 to 97 percent of the held-out cross-language misalignment; rotation never adds more than 0.7 percent.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a protocol frozen before the run, 19 models from 13 families were scored on whether a preceding sentence in another language (41 languages) lowers the loss on the English sentence that follows, against a length-matched mismatched context. Models with a smaller language share at the dip layer, one minus LFS-VC, use the foreign context more. The association holds after adjusting for training-data exposure, language family, script, and tokenizer fertility. The same share shows no clear association with pooled benchmark accuracy, which the paper reports as a limit.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share cannot see uniform scaling. A word-alignment fine-tuning of Qwen3-0.6B shrank the representation norm from 451 to 42 and the raw content variance twenty-fold while LFS moved only from 0.445 to 0.493 and the retrieval score rose; only the raw component caught it. And LFS is not a training objective: across 28 conditions at three seeds, objectives that pushed LFS down moved tail alignment down with it, and training on LFS itself doubled the dip while Belebele fell. The paper therefore presents LFS as a diagnostic reported with its raw components, not as a score or a loss.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leads with LFS as a structural diagnostic: a two-way analysis-of-variance share with a known noise value, profiles on 33 models, one behavioral association, and explicit limits. Is that the right claim to lead with, or should the behavioral result carry more weight? It is presented as a measurement paper, not a method that improves models. The English question is phrased as "a multilingual average predicts better than English", MEXA is a reference measure and is never ranked against, and the limits get a full section. Does that read as careful or as weak? Title: current choice or one of the two alternatives. Author order and the reciprocal reviewer by 18 September; paper by 25 September. Open evidence: the 19 expansion models are measured with LFS-VC only; a direct-SS re-measurement needs cluster time. The anonymous code link is added at submission.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one model the same reading test in ten languages and the scores fall from 0.95 in English to 0.48 in Amharic. These are real zero-shot Belebele accuracies for Qwen3-8B. Aim 1 of the proposal asks what happens inside the model before anyone tries to fix this. The model is a block of numbers nobody wrote by hand, so the first step is a measurement that shows where the languages part ways.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3.1.1 of the proposal pictures three stages: take in the word, process the content, pick the output word. The first and last should depend on the language; the middle should be shared. The proposal then states the open question this project answers: it is not clear how strong the language component in the representation is, or should be. It also asks whether the spaces of different languages can be joined by a simple map, as older word-vector spaces could.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sentence is split into tokens. Each token starts as a vector, and every Transformer block rewrites all of them; layer 0 is the embedding output and layer K the last block. At each layer we take the hidden states, one row per token, and average them over the tokens in full precision. That gives one vector per sentence per layer. Nothing is generated; we only read the states of frozen base models.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arithmetic, every coordinate is standardized over the whole grid: subtract its mean and divide by its standard deviation, both computed over all 38,400 cells. This is done jointly across languages, never per language, because per-language standardization would remove exactly the language differences we want to measure. It matters: in Qwen3-8B one coordinate, number 2276, carries 92.8 percent of the raw spread at layer 19.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standardized grid we take three averages. Averaging across a row gives the language mean: what that language looks like on average. Averaging down a column gives the sentence mean: what that sentence looks like across languages. Averaging every cell gives the grand mean. Everything that follows is built from how far these means sit from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Language-Factor Share is the language part divided by the language part plus the sentence part. The residual is left out on purpose, so a noisy model does not look language-neutral only because its residual is large. LFS is 1 when only language separates the cells and 0 when only the sentence does. Under pure noise it is not zero but 0.298 on this grid, because averages of random numbers still differ by chance; every real value is read against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computation is repeated at every layer, giving one share per layer: the depth profile. At the input the vectors are still the words, so language decides where they land and the share is near 1. In the middle the model has worked out what is being said, so the same sentence lands close together across languages and the share falls. At the output the model must produce a word in the right language, so the share rises again. Three numbers summarize a profile: the minimum layer, the minimum share, and the dip depth, the layer-0 value minus the minimum.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the measurement on 17 open base models from 11 families. All 17 profiles have an interior minimum with both ends higher. What differs is how deep: from 0.039 for BLOOM-1.7B to 0.336 for Qwen3-8B, a nine-fold range. To see how much a dip depth depends on which 300 sentences were used, we resampled 2,000 sets of 300 from 1,500 stored sentences. The bars are the resulting 95 percent intervals: narrow for 12 of 14 models, wide only for the two whose minimum sits at an early layer.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Within one family the dip deepens with size: Qwen3 goes 0.206, 0.213, 0.314, 0.336 from 0.6B to 8B. But families at the same size differ far more than sizes within a family. Qwen3-1.7B dips deeper than every 7B model from another lab except Llama-3.1-8B; BLOOM, trained on a balanced 46-language mix, barely dips at either size; Salamandra dips more at 2B than at 7B. So dip depth is set by how a model was trained more than by how big it is. This is a descriptive comparison: we do not separate data, tokenizer, and training recipe.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proposal's third question is whether information given in one language is used in another. We took an English sentence and the sentence before it from the same news story, translated into 41 languages. We measured the model's loss on the English sentence with the true foreign-language context, and with a context of the same language and length taken from a different story. The difference is the benefit of the context, normalized by the same benefit with English context. The mismatched control matters, because foreign text from the wrong story hurts.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three measures tested against two behaviors. Left: pooled multiple-choice accuracy (Belebele and INCLUDE) on 33 models, 70 languages, 1,740 rows after covariate filtering. No measure predicts it well, LFS least of all. Right: the foreign-context benefit on 19 models, where all three are clearly associated. Part of the reason is the target: two benchmarks on the same cells agree on only about a third of their adjusted variation. We report the null result as a limit, not a defect to tune away.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the measurement we tried to break it five ways, each with predictions written down first. A second corpus, FLORES-200 with Wikipedia sentences: 17 of 17 profiles dip and recover, depth ordering Spearman 0.92. Resampled sentences: the intervals of Experiment 1, ordering preserved in every draw. Sealed predictions for two unseen families, SmolLM2 and Falcon3: 4 of 4 held. Injected faults: shifts and rotations recovered, uniform shrinking invisible to any ratio. Instruction tuning: six base and instruct pairs move dip depth by at most 0.01.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proposal's questions. How strong is the language component, layer by layer? Large everywhere and smallest at an interior layer, with the same shape in all 36 measured profiles from 33 models. Is the shared middle English? No: the multilingual average predicts 113 to 124 of 127 languages better than English does. Is the map between languages simple? Yes: an offset plus a scale removes 63 to 97 percent of the misalignment. Does it show in behavior? Yes for foreign-language context use; no for pooled test scores.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limits, found on purpose. A share is blind to size, so the raw components are always printed beside it. And LFS is not a training objective: across 28 training conditions at three seeds on one small model, objectives that pushed LFS down moved tail alignment down with it, and training on LFS itself doubled the dip while Belebele fell 2.9 points. Its place in the next aim is design, monitoring, and evaluation, not the loss.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hands to Aim 2. Where to act: the interior layer with the smallest language share, layer 19 for Qwen3-8B and layer 2 for Mistral-7B. What to act on: the per-language offset, which carries most of the language leftover; removing it from saved states deleted 97 percent of the language part in a pre-test that needed no training. How to check a fix: print the raw components and run the behavioral test, never the share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2103120"/>
            <a:ext cx="9997135" cy="1828800"/>
          </a:xfrm>
          <a:prstGeom prst="rect">
            <a:avLst/>
          </a:prstGeom>
          <a:noFill/>
        </p:spPr>
        <p:txBody>
          <a:bodyPr wrap="square" anchor="ctr" lIns="54864" rIns="54864" tIns="36576" bIns="36576">
            <a:spAutoFit/>
          </a:bodyPr>
          <a:lstStyle/>
          <a:p>
            <a:pPr algn="l">
              <a:spcAft>
                <a:spcPts val="0"/>
              </a:spcAft>
            </a:pPr>
            <a:r>
              <a:rPr sz="3600" b="1">
                <a:solidFill>
                  <a:srgbClr val="0B2A4A"/>
                </a:solidFill>
                <a:latin typeface="Calibri"/>
              </a:rPr>
              <a:t>Measuring the Language Share of Multilingual Representations</a:t>
            </a:r>
          </a:p>
        </p:txBody>
      </p:sp>
      <p:sp>
        <p:nvSpPr>
          <p:cNvPr id="3" name="Rectangle 2"/>
          <p:cNvSpPr/>
          <p:nvPr/>
        </p:nvSpPr>
        <p:spPr>
          <a:xfrm>
            <a:off x="1143000" y="4069080"/>
            <a:ext cx="1280160" cy="54864"/>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5486400"/>
            <a:ext cx="9997135" cy="548640"/>
          </a:xfrm>
          <a:prstGeom prst="rect">
            <a:avLst/>
          </a:prstGeom>
          <a:noFill/>
        </p:spPr>
        <p:txBody>
          <a:bodyPr wrap="square" anchor="t" lIns="54864" rIns="54864" tIns="36576" bIns="36576">
            <a:spAutoFit/>
          </a:bodyPr>
          <a:lstStyle/>
          <a:p>
            <a:pPr algn="l">
              <a:spcAft>
                <a:spcPts val="0"/>
              </a:spcAft>
            </a:pPr>
            <a:r>
              <a:rPr sz="2000" b="0">
                <a:solidFill>
                  <a:srgbClr val="1A1A1A"/>
                </a:solidFill>
                <a:latin typeface="Calibri"/>
              </a:rPr>
              <a:t>Waiz Khan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1900" b="1">
                <a:solidFill>
                  <a:srgbClr val="0B2A4A"/>
                </a:solidFill>
                <a:latin typeface="Calibri"/>
              </a:rPr>
              <a:t>How LFS works, 1 of 3: from parallel sentences to a grid of vectors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2_grid.png"/>
          <p:cNvPicPr>
            <a:picLocks noChangeAspect="1"/>
          </p:cNvPicPr>
          <p:nvPr/>
        </p:nvPicPr>
        <p:blipFill>
          <a:blip r:embed="rId2"/>
          <a:stretch>
            <a:fillRect/>
          </a:stretch>
        </p:blipFill>
        <p:spPr>
          <a:xfrm>
            <a:off x="457200" y="2264624"/>
            <a:ext cx="7315199" cy="2877391"/>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same 300 NTREX sentences in 128 languages are run once through a frozen base model. At every layer the hidden states of a text are mean-pooled in fp32 into one vector, so each layer gives a grid: one row per language, one column per sentence. Each coordinate is then standardized jointly over the whole grid, never per language, because per-language standardization would remove the language differences being measured.</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L = 128 languages, N = 300 sentences, 38,400 cells per layer</a:t>
            </a:r>
            <a:endParaRPr sz="1000" b="0" i="0">
              <a:latin typeface="Calibri"/>
            </a:endParaRPr>
          </a:p>
          <a:p>
            <a:pPr algn="l">
              <a:spcAft>
                <a:spcPts val="300"/>
              </a:spcAft>
            </a:pPr>
            <a:r>
              <a:rPr sz="1000" b="0" i="0">
                <a:solidFill>
                  <a:srgbClr val="1A1A1A"/>
                </a:solidFill>
                <a:latin typeface="Calibri"/>
              </a:rPr>
              <a:t>•  d = 4,096 for Qwen3-8B; K = 36 blocks, so 37 layers</a:t>
            </a:r>
            <a:endParaRPr sz="1000" b="0" i="0">
              <a:latin typeface="Calibri"/>
            </a:endParaRPr>
          </a:p>
          <a:p>
            <a:pPr algn="l">
              <a:spcAft>
                <a:spcPts val="300"/>
              </a:spcAft>
            </a:pPr>
            <a:r>
              <a:rPr sz="1000" b="0" i="0">
                <a:solidFill>
                  <a:srgbClr val="1A1A1A"/>
                </a:solidFill>
                <a:latin typeface="Calibri"/>
              </a:rPr>
              <a:t>•  joint standardization matters: Qwen3-8B, layer 19, reads 0.347 raw and 0.608 standardized</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How LFS works, 2 of 3: the decomposition and the share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5_sums_of_squares.png"/>
          <p:cNvPicPr>
            <a:picLocks noChangeAspect="1"/>
          </p:cNvPicPr>
          <p:nvPr/>
        </p:nvPicPr>
        <p:blipFill>
          <a:blip r:embed="rId2"/>
          <a:stretch>
            <a:fillRect/>
          </a:stretch>
        </p:blipFill>
        <p:spPr>
          <a:xfrm>
            <a:off x="457200" y="2524158"/>
            <a:ext cx="7315200" cy="2358323"/>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total spread of the standardized grid splits exactly into a language part (how far the language means sit from the grand mean), a sentence part (the same for sentence means), and a residual (interaction plus noise). LFS is the language part as a share of the two systematic parts; the residual is excluded on purpose. Repeating this at every layer gives the depth profile, summarized by the minimum layer, the minimum share, and the dip depth.</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LFS = SS_lang / (SS_lang + SS_con), defined when the sum is positive</a:t>
            </a:r>
            <a:endParaRPr sz="1000" b="0" i="0">
              <a:latin typeface="Calibri"/>
            </a:endParaRPr>
          </a:p>
          <a:p>
            <a:pPr algn="l">
              <a:spcAft>
                <a:spcPts val="300"/>
              </a:spcAft>
            </a:pPr>
            <a:r>
              <a:rPr sz="1000" b="0" i="0">
                <a:solidFill>
                  <a:srgbClr val="1A1A1A"/>
                </a:solidFill>
                <a:latin typeface="Calibri"/>
              </a:rPr>
              <a:t>•  expected value under pure noise: (L − 1)/(L + N − 2) = 0.298 on this grid</a:t>
            </a:r>
            <a:endParaRPr sz="1000" b="0" i="0">
              <a:latin typeface="Calibri"/>
            </a:endParaRPr>
          </a:p>
          <a:p>
            <a:pPr algn="l">
              <a:spcAft>
                <a:spcPts val="300"/>
              </a:spcAft>
            </a:pPr>
            <a:r>
              <a:rPr sz="1000" b="0" i="0">
                <a:solidFill>
                  <a:srgbClr val="1A1A1A"/>
                </a:solidFill>
                <a:latin typeface="Calibri"/>
              </a:rPr>
              <a:t>•  dip depth = LFS at layer 0 minus the minimum LFS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How LFS works, 3 of 3: a numerical example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8_worked_example.png"/>
          <p:cNvPicPr>
            <a:picLocks noChangeAspect="1"/>
          </p:cNvPicPr>
          <p:nvPr/>
        </p:nvPicPr>
        <p:blipFill>
          <a:blip r:embed="rId2"/>
          <a:stretch>
            <a:fillRect/>
          </a:stretch>
        </p:blipFill>
        <p:spPr>
          <a:xfrm>
            <a:off x="457200" y="2353714"/>
            <a:ext cx="7315200" cy="2699211"/>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On a two-language, three-sentence grid with one number per cell the arithmetic is visible: language means 6 and 9, sentence means 3.5, 7.5, 11.5, grand mean 7.5; the language part is 13.5, the sentence part 64, the residual 0, so LFS is 0.17. The real computation is the same over 4,096 coordinates. For Qwen3-8B at layer 19 the language part is 55.2 million and the sentence part 35.6 million, giving 0.608, against 0.945 at layer 0 and 0.958 at the last layer.</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tiny grid: SS_lang 13.5, SS_con 64, SS_res 0, LFS 0.17</a:t>
            </a:r>
            <a:endParaRPr sz="1000" b="0" i="0">
              <a:latin typeface="Calibri"/>
            </a:endParaRPr>
          </a:p>
          <a:p>
            <a:pPr algn="l">
              <a:spcAft>
                <a:spcPts val="300"/>
              </a:spcAft>
            </a:pPr>
            <a:r>
              <a:rPr sz="1000" b="0" i="0">
                <a:solidFill>
                  <a:srgbClr val="1A1A1A"/>
                </a:solidFill>
                <a:latin typeface="Calibri"/>
              </a:rPr>
              <a:t>•  Qwen3-8B, layer 19: 55.2M / (55.2M + 35.6M) = 0.608</a:t>
            </a:r>
            <a:endParaRPr sz="1000" b="0" i="0">
              <a:latin typeface="Calibri"/>
            </a:endParaRPr>
          </a:p>
          <a:p>
            <a:pPr algn="l">
              <a:spcAft>
                <a:spcPts val="300"/>
              </a:spcAft>
            </a:pPr>
            <a:r>
              <a:rPr sz="1000" b="0" i="0">
                <a:solidFill>
                  <a:srgbClr val="1A1A1A"/>
                </a:solidFill>
                <a:latin typeface="Calibri"/>
              </a:rPr>
              <a:t>•  profile: 0.945 at layer 0, 0.608 at layer 19, 0.958 at layer 36; dip depth 0.336</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1900" b="1">
                <a:solidFill>
                  <a:srgbClr val="0B2A4A"/>
                </a:solidFill>
                <a:latin typeface="Calibri"/>
              </a:rPr>
              <a:t>Evidence 1: every profile has an interior minimum, and it replicates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_lfs_profiles_17.png"/>
          <p:cNvPicPr>
            <a:picLocks noChangeAspect="1"/>
          </p:cNvPicPr>
          <p:nvPr/>
        </p:nvPicPr>
        <p:blipFill>
          <a:blip r:embed="rId2"/>
          <a:stretch>
            <a:fillRect/>
          </a:stretch>
        </p:blipFill>
        <p:spPr>
          <a:xfrm>
            <a:off x="457200" y="1188720"/>
            <a:ext cx="7315200" cy="3368950"/>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All 17 primary models (direct sums of squares) and all 19 expansion models (the variance-component estimator, LFS-VC) have a profile that is high at the input, lowest at an interior layer, and high again at the output. Dip depth ranges nine-fold and is set by training recipe more than by size. The profile replicates on FLORES-200, is stable under sentence resampling, survives instruction tuning, and held on two model families whose predictions were frozen before the run.</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dip depth 0.039 (BLOOM-1.7B) to 0.336 (Qwen3-8B); 36 of 36 profiles</a:t>
            </a:r>
            <a:endParaRPr sz="1000" b="0" i="0">
              <a:latin typeface="Calibri"/>
            </a:endParaRPr>
          </a:p>
          <a:p>
            <a:pPr algn="l">
              <a:spcAft>
                <a:spcPts val="300"/>
              </a:spcAft>
            </a:pPr>
            <a:r>
              <a:rPr sz="1000" b="0" i="0">
                <a:solidFill>
                  <a:srgbClr val="1A1A1A"/>
                </a:solidFill>
                <a:latin typeface="Calibri"/>
              </a:rPr>
              <a:t>•  FLORES-200: 17 of 17, depth ordering Spearman 0.92</a:t>
            </a:r>
            <a:endParaRPr sz="1000" b="0" i="0">
              <a:latin typeface="Calibri"/>
            </a:endParaRPr>
          </a:p>
          <a:p>
            <a:pPr algn="l">
              <a:spcAft>
                <a:spcPts val="300"/>
              </a:spcAft>
            </a:pPr>
            <a:r>
              <a:rPr sz="1000" b="0" i="0">
                <a:solidFill>
                  <a:srgbClr val="1A1A1A"/>
                </a:solidFill>
                <a:latin typeface="Calibri"/>
              </a:rPr>
              <a:t>•  resampling: half-widths 0.004 to 0.020 for 12 of 14 models; ordering Spearman ≥ 0.90 in 2,000 of 2,000</a:t>
            </a:r>
            <a:endParaRPr sz="1000" b="0" i="0">
              <a:latin typeface="Calibri"/>
            </a:endParaRPr>
          </a:p>
          <a:p>
            <a:pPr algn="l">
              <a:spcAft>
                <a:spcPts val="300"/>
              </a:spcAft>
            </a:pPr>
            <a:r>
              <a:rPr sz="1000" b="0" i="0">
                <a:solidFill>
                  <a:srgbClr val="1A1A1A"/>
                </a:solidFill>
                <a:latin typeface="Calibri"/>
              </a:rPr>
              <a:t>•  instruction tuning: six pairs, dip depth within 0.01; unseen families: 4 of 4 predictions held</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1900" b="1">
                <a:solidFill>
                  <a:srgbClr val="0B2A4A"/>
                </a:solidFill>
                <a:latin typeface="Calibri"/>
              </a:rPr>
              <a:t>Evidence 2: the shared middle is multilingual, and the map between languages is simple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7_evidence2.png"/>
          <p:cNvPicPr>
            <a:picLocks noChangeAspect="1"/>
          </p:cNvPicPr>
          <p:nvPr/>
        </p:nvPicPr>
        <p:blipFill>
          <a:blip r:embed="rId2"/>
          <a:stretch>
            <a:fillRect/>
          </a:stretch>
        </p:blipFill>
        <p:spPr>
          <a:xfrm>
            <a:off x="457200" y="1188720"/>
            <a:ext cx="7315199" cy="437616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Left: at each model's dip layer, the average of the other languages predicts a language's vectors better than English does for 113 to 124 of 127 languages, so the shared middle is not English. Right: mapping each language into a shared reference space with nested maps, a per-language offset plus a scale removes 63 to 97 percent of the held-out cross-language misalignment; rotation never adds more than 0.7 percent.</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hub test: 17 models, ridge on 64 principal components, 3-fold cross-validation; median gain +0.06 to +0.16 R²</a:t>
            </a:r>
            <a:endParaRPr sz="1000" b="0" i="0">
              <a:latin typeface="Calibri"/>
            </a:endParaRPr>
          </a:p>
          <a:p>
            <a:pPr algn="l">
              <a:spcAft>
                <a:spcPts val="300"/>
              </a:spcAft>
            </a:pPr>
            <a:r>
              <a:rPr sz="1000" b="0" i="0">
                <a:solidFill>
                  <a:srgbClr val="1A1A1A"/>
                </a:solidFill>
                <a:latin typeface="Calibri"/>
              </a:rPr>
              <a:t>•  decomposition: 14 models, 1,500 sentences, common rank 64; offset + scale 63% to 97%</a:t>
            </a:r>
            <a:endParaRPr sz="1000" b="0" i="0">
              <a:latin typeface="Calibri"/>
            </a:endParaRPr>
          </a:p>
          <a:p>
            <a:pPr algn="l">
              <a:spcAft>
                <a:spcPts val="300"/>
              </a:spcAft>
            </a:pPr>
            <a:r>
              <a:rPr sz="1000" b="0" i="0">
                <a:solidFill>
                  <a:srgbClr val="1A1A1A"/>
                </a:solidFill>
                <a:latin typeface="Calibri"/>
              </a:rPr>
              <a:t>•  rotation at most 0.7%; the difference between languages is mostly an offset</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1900" b="1">
                <a:solidFill>
                  <a:srgbClr val="0B2A4A"/>
                </a:solidFill>
                <a:latin typeface="Calibri"/>
              </a:rPr>
              <a:t>Evidence 3: the sentence-component share and the use of foreign-language context</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r1_model_level.png"/>
          <p:cNvPicPr>
            <a:picLocks noChangeAspect="1"/>
          </p:cNvPicPr>
          <p:nvPr/>
        </p:nvPicPr>
        <p:blipFill>
          <a:blip r:embed="rId2"/>
          <a:stretch>
            <a:fillRect/>
          </a:stretch>
        </p:blipFill>
        <p:spPr>
          <a:xfrm>
            <a:off x="556591" y="1188720"/>
            <a:ext cx="7116417" cy="5029200"/>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Under a protocol frozen before the run, 19 models from 13 families were scored on whether a preceding sentence in another language (41 languages) lowers the loss on the English sentence that follows, against a length-matched mismatched context. Models with a smaller language share at the dip layer, one minus LFS-VC, use the foreign context more. The association holds after adjusting for training-data exposure, language family, script, and tokenizer fertility. The same share shows no clear association with pooled benchmark accuracy, which the paper reports as a limit.</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Spearman 0.77 [0.44, 0.94] unadjusted; 0.51 [0.19, 0.71] after covariate adjustment</a:t>
            </a:r>
            <a:endParaRPr sz="1000" b="0" i="0">
              <a:latin typeface="Calibri"/>
            </a:endParaRPr>
          </a:p>
          <a:p>
            <a:pPr algn="l">
              <a:spcAft>
                <a:spcPts val="300"/>
              </a:spcAft>
            </a:pPr>
            <a:r>
              <a:rPr sz="1000" b="0" i="0">
                <a:solidFill>
                  <a:srgbClr val="1A1A1A"/>
                </a:solidFill>
                <a:latin typeface="Calibri"/>
              </a:rPr>
              <a:t>•  positive under leave-one-family-out; 157,700 scored sequences</a:t>
            </a:r>
            <a:endParaRPr sz="1000" b="0" i="0">
              <a:latin typeface="Calibri"/>
            </a:endParaRPr>
          </a:p>
          <a:p>
            <a:pPr algn="l">
              <a:spcAft>
                <a:spcPts val="300"/>
              </a:spcAft>
            </a:pPr>
            <a:r>
              <a:rPr sz="1000" b="0" i="0">
                <a:solidFill>
                  <a:srgbClr val="1A1A1A"/>
                </a:solidFill>
                <a:latin typeface="Calibri"/>
              </a:rPr>
              <a:t>•  pooled Belebele and INCLUDE accuracy, 33 models: 0.04 [−0.05, 0.12]; MEXA 0.24 for reference</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1900" b="1">
                <a:solidFill>
                  <a:srgbClr val="0B2A4A"/>
                </a:solidFill>
                <a:latin typeface="Calibri"/>
              </a:rPr>
              <a:t>What limits the claims: uniform scaling and training interventions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7_ratio_hides_scale.png"/>
          <p:cNvPicPr>
            <a:picLocks noChangeAspect="1"/>
          </p:cNvPicPr>
          <p:nvPr/>
        </p:nvPicPr>
        <p:blipFill>
          <a:blip r:embed="rId2"/>
          <a:stretch>
            <a:fillRect/>
          </a:stretch>
        </p:blipFill>
        <p:spPr>
          <a:xfrm>
            <a:off x="457200" y="2384623"/>
            <a:ext cx="7315200" cy="2637392"/>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A share cannot see uniform scaling. A word-alignment fine-tuning of Qwen3-0.6B shrank the representation norm from 451 to 42 and the raw content variance twenty-fold while LFS moved only from 0.445 to 0.493 and the retrieval score rose; only the raw component caught it. And LFS is not a training objective: across 28 conditions at three seeds, objectives that pushed LFS down moved tail alignment down with it, and training on LFS itself doubled the dip while Belebele fell. The paper therefore presents LFS as a diagnostic reported with its raw components, not as a score or a loss.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norm 451 → 42; raw content variance 13,791 → 699; LFS 0.445 → 0.493; MEXA +0.09 over the control</a:t>
            </a:r>
            <a:endParaRPr sz="1000" b="0" i="0">
              <a:latin typeface="Calibri"/>
            </a:endParaRPr>
          </a:p>
          <a:p>
            <a:pPr algn="l">
              <a:spcAft>
                <a:spcPts val="300"/>
              </a:spcAft>
            </a:pPr>
            <a:r>
              <a:rPr sz="1000" b="0" i="0">
                <a:solidFill>
                  <a:srgbClr val="1A1A1A"/>
                </a:solidFill>
                <a:latin typeface="Calibri"/>
              </a:rPr>
              <a:t>•  Belebele unchanged for the shrunk model (0.395 vs 0.390): representation change, not demonstrated harm</a:t>
            </a:r>
            <a:endParaRPr sz="1000" b="0" i="0">
              <a:latin typeface="Calibri"/>
            </a:endParaRPr>
          </a:p>
          <a:p>
            <a:pPr algn="l">
              <a:spcAft>
                <a:spcPts val="300"/>
              </a:spcAft>
            </a:pPr>
            <a:r>
              <a:rPr sz="1000" b="0" i="0">
                <a:solidFill>
                  <a:srgbClr val="1A1A1A"/>
                </a:solidFill>
                <a:latin typeface="Calibri"/>
              </a:rPr>
              <a:t>•  training interventions: Pearson +0.92 over 18 condition-seed points; LFS as a loss: dip doubled, Belebele −2.9 vs −1.7 for the control</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What I need your feedback on before submission</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25880"/>
            <a:ext cx="3576218" cy="484632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325880"/>
            <a:ext cx="3576218" cy="54864"/>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3210458" cy="457200"/>
          </a:xfrm>
          <a:prstGeom prst="rect">
            <a:avLst/>
          </a:prstGeom>
          <a:noFill/>
        </p:spPr>
        <p:txBody>
          <a:bodyPr wrap="square" anchor="t" lIns="54864" rIns="54864" tIns="36576" bIns="36576">
            <a:spAutoFit/>
          </a:bodyPr>
          <a:lstStyle/>
          <a:p>
            <a:pPr algn="l">
              <a:spcAft>
                <a:spcPts val="0"/>
              </a:spcAft>
            </a:pPr>
            <a:r>
              <a:rPr sz="1600" b="1">
                <a:solidFill>
                  <a:srgbClr val="0B2A4A"/>
                </a:solidFill>
                <a:latin typeface="Calibri"/>
              </a:rPr>
              <a:t>Contribution</a:t>
            </a:r>
          </a:p>
        </p:txBody>
      </p:sp>
      <p:sp>
        <p:nvSpPr>
          <p:cNvPr id="7" name="TextBox 6"/>
          <p:cNvSpPr txBox="1"/>
          <p:nvPr/>
        </p:nvSpPr>
        <p:spPr>
          <a:xfrm>
            <a:off x="640080" y="2011680"/>
            <a:ext cx="3210458" cy="4023360"/>
          </a:xfrm>
          <a:prstGeom prst="rect">
            <a:avLst/>
          </a:prstGeom>
          <a:noFill/>
        </p:spPr>
        <p:txBody>
          <a:bodyPr wrap="square" anchor="t" lIns="54864" rIns="54864" tIns="36576" bIns="36576">
            <a:noAutofit/>
          </a:bodyPr>
          <a:lstStyle/>
          <a:p>
            <a:pPr algn="l">
              <a:spcAft>
                <a:spcPts val="0"/>
              </a:spcAft>
            </a:pPr>
            <a:r>
              <a:rPr sz="1300" b="0" i="0">
                <a:solidFill>
                  <a:srgbClr val="1A1A1A"/>
                </a:solidFill>
                <a:latin typeface="Calibri"/>
              </a:rPr>
              <a:t>The paper leads with LFS as a structural diagnostic: a two-way analysis-of-variance share with a known noise value, profiles on 33 models, one behavioral association, and explicit limits. Is that the right claim to lead with, or should the behavioral result carry more weight?</a:t>
            </a:r>
            <a:endParaRPr sz="1300" b="0" i="0">
              <a:latin typeface="Calibri"/>
            </a:endParaRPr>
          </a:p>
        </p:txBody>
      </p:sp>
      <p:sp>
        <p:nvSpPr>
          <p:cNvPr id="8" name="Rectangle 7"/>
          <p:cNvSpPr/>
          <p:nvPr/>
        </p:nvSpPr>
        <p:spPr>
          <a:xfrm>
            <a:off x="4307738" y="1325880"/>
            <a:ext cx="3576218" cy="484632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07738" y="1325880"/>
            <a:ext cx="3576218" cy="54864"/>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508760"/>
            <a:ext cx="3210458" cy="457200"/>
          </a:xfrm>
          <a:prstGeom prst="rect">
            <a:avLst/>
          </a:prstGeom>
          <a:noFill/>
        </p:spPr>
        <p:txBody>
          <a:bodyPr wrap="square" anchor="t" lIns="54864" rIns="54864" tIns="36576" bIns="36576">
            <a:spAutoFit/>
          </a:bodyPr>
          <a:lstStyle/>
          <a:p>
            <a:pPr algn="l">
              <a:spcAft>
                <a:spcPts val="0"/>
              </a:spcAft>
            </a:pPr>
            <a:r>
              <a:rPr sz="1600" b="1">
                <a:solidFill>
                  <a:srgbClr val="0B2A4A"/>
                </a:solidFill>
                <a:latin typeface="Calibri"/>
              </a:rPr>
              <a:t>Framing</a:t>
            </a:r>
          </a:p>
        </p:txBody>
      </p:sp>
      <p:sp>
        <p:nvSpPr>
          <p:cNvPr id="11" name="TextBox 10"/>
          <p:cNvSpPr txBox="1"/>
          <p:nvPr/>
        </p:nvSpPr>
        <p:spPr>
          <a:xfrm>
            <a:off x="4490618" y="2011680"/>
            <a:ext cx="3210458" cy="4023360"/>
          </a:xfrm>
          <a:prstGeom prst="rect">
            <a:avLst/>
          </a:prstGeom>
          <a:noFill/>
        </p:spPr>
        <p:txBody>
          <a:bodyPr wrap="square" anchor="t" lIns="54864" rIns="54864" tIns="36576" bIns="36576">
            <a:noAutofit/>
          </a:bodyPr>
          <a:lstStyle/>
          <a:p>
            <a:pPr algn="l">
              <a:spcAft>
                <a:spcPts val="0"/>
              </a:spcAft>
            </a:pPr>
            <a:r>
              <a:rPr sz="1300" b="0" i="0">
                <a:solidFill>
                  <a:srgbClr val="1A1A1A"/>
                </a:solidFill>
                <a:latin typeface="Calibri"/>
              </a:rPr>
              <a:t>It is presented as a measurement paper, not a method that improves models. The English question is phrased as "a multilingual average predicts better than English", MEXA is a reference measure and is never ranked against, and the limits get a full section. Does that read as careful or as weak?</a:t>
            </a:r>
            <a:endParaRPr sz="1300" b="0" i="0">
              <a:latin typeface="Calibri"/>
            </a:endParaRPr>
          </a:p>
        </p:txBody>
      </p:sp>
      <p:sp>
        <p:nvSpPr>
          <p:cNvPr id="12" name="Rectangle 11"/>
          <p:cNvSpPr/>
          <p:nvPr/>
        </p:nvSpPr>
        <p:spPr>
          <a:xfrm>
            <a:off x="8158276" y="1325880"/>
            <a:ext cx="3576218" cy="484632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58276" y="1325880"/>
            <a:ext cx="3576218" cy="54864"/>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508760"/>
            <a:ext cx="3210458" cy="457200"/>
          </a:xfrm>
          <a:prstGeom prst="rect">
            <a:avLst/>
          </a:prstGeom>
          <a:noFill/>
        </p:spPr>
        <p:txBody>
          <a:bodyPr wrap="square" anchor="t" lIns="54864" rIns="54864" tIns="36576" bIns="36576">
            <a:spAutoFit/>
          </a:bodyPr>
          <a:lstStyle/>
          <a:p>
            <a:pPr algn="l">
              <a:spcAft>
                <a:spcPts val="0"/>
              </a:spcAft>
            </a:pPr>
            <a:r>
              <a:rPr sz="1600" b="1">
                <a:solidFill>
                  <a:srgbClr val="0B2A4A"/>
                </a:solidFill>
                <a:latin typeface="Calibri"/>
              </a:rPr>
              <a:t>Decisions and gaps</a:t>
            </a:r>
          </a:p>
        </p:txBody>
      </p:sp>
      <p:sp>
        <p:nvSpPr>
          <p:cNvPr id="15" name="TextBox 14"/>
          <p:cNvSpPr txBox="1"/>
          <p:nvPr/>
        </p:nvSpPr>
        <p:spPr>
          <a:xfrm>
            <a:off x="8341156" y="2011680"/>
            <a:ext cx="3210458" cy="4023360"/>
          </a:xfrm>
          <a:prstGeom prst="rect">
            <a:avLst/>
          </a:prstGeom>
          <a:noFill/>
        </p:spPr>
        <p:txBody>
          <a:bodyPr wrap="square" anchor="t" lIns="54864" rIns="54864" tIns="36576" bIns="36576">
            <a:noAutofit/>
          </a:bodyPr>
          <a:lstStyle/>
          <a:p>
            <a:pPr algn="l">
              <a:spcAft>
                <a:spcPts val="0"/>
              </a:spcAft>
            </a:pPr>
            <a:r>
              <a:rPr sz="1300" b="0" i="0">
                <a:solidFill>
                  <a:srgbClr val="1A1A1A"/>
                </a:solidFill>
                <a:latin typeface="Calibri"/>
              </a:rPr>
              <a:t>Title: current choice or one of the two alternatives. Author order and the reciprocal reviewer by 18 September; paper by 25 September. Open evidence: the 19 expansion models are measured with LFS-VC only; a direct-SS re-measurement needs cluster time. The anonymous code link is added at submission.</a:t>
            </a:r>
            <a:endParaRPr sz="1300" b="0" i="0">
              <a:latin typeface="Calibri"/>
            </a:endParaRPr>
          </a:p>
        </p:txBody>
      </p:sp>
      <p:sp>
        <p:nvSpPr>
          <p:cNvPr id="16" name="TextBox 15"/>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7" name="TextBox 16"/>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the problem</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1_problem.png"/>
          <p:cNvPicPr>
            <a:picLocks noChangeAspect="1"/>
          </p:cNvPicPr>
          <p:nvPr/>
        </p:nvPicPr>
        <p:blipFill>
          <a:blip r:embed="rId2"/>
          <a:stretch>
            <a:fillRect/>
          </a:stretch>
        </p:blipFill>
        <p:spPr>
          <a:xfrm>
            <a:off x="457200" y="2456085"/>
            <a:ext cx="7315200" cy="2494468"/>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Give one model the same reading test in ten languages and the scores fall from 0.95 in English to 0.48 in Amharic. These are real zero-shot Belebele accuracies for Qwen3-8B. Aim 1 of the proposal asks what happens inside the model before anyone tries to fix this. The model is a block of numbers nobody wrote by hand, so the first step is a measurement that shows where the languages part ways.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Qwen3-8B, zero-shot Belebele accuracy, ten languages</a:t>
            </a:r>
            <a:endParaRPr sz="1000" b="0" i="0">
              <a:latin typeface="Calibri"/>
            </a:endParaRPr>
          </a:p>
          <a:p>
            <a:pPr algn="l">
              <a:spcAft>
                <a:spcPts val="300"/>
              </a:spcAft>
            </a:pPr>
            <a:r>
              <a:rPr sz="1000" b="0" i="0">
                <a:solidFill>
                  <a:srgbClr val="1A1A1A"/>
                </a:solidFill>
                <a:latin typeface="Calibri"/>
              </a:rPr>
              <a:t>•  English 0.953, German 0.887, French 0.903, Spanish 0.890</a:t>
            </a:r>
            <a:endParaRPr sz="1000" b="0" i="0">
              <a:latin typeface="Calibri"/>
            </a:endParaRPr>
          </a:p>
          <a:p>
            <a:pPr algn="l">
              <a:spcAft>
                <a:spcPts val="300"/>
              </a:spcAft>
            </a:pPr>
            <a:r>
              <a:rPr sz="1000" b="0" i="0">
                <a:solidFill>
                  <a:srgbClr val="1A1A1A"/>
                </a:solidFill>
                <a:latin typeface="Calibri"/>
              </a:rPr>
              <a:t>•  Russian 0.833, Arabic 0.870, Persian 0.833</a:t>
            </a:r>
            <a:endParaRPr sz="1000" b="0" i="0">
              <a:latin typeface="Calibri"/>
            </a:endParaRPr>
          </a:p>
          <a:p>
            <a:pPr algn="l">
              <a:spcAft>
                <a:spcPts val="300"/>
              </a:spcAft>
            </a:pPr>
            <a:r>
              <a:rPr sz="1000" b="0" i="0">
                <a:solidFill>
                  <a:srgbClr val="1A1A1A"/>
                </a:solidFill>
                <a:latin typeface="Calibri"/>
              </a:rPr>
              <a:t>•  Swahili 0.573, Khmer 0.607, Amharic 0.477</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what the proposal asks (Aim 1)</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2_proposal.png"/>
          <p:cNvPicPr>
            <a:picLocks noChangeAspect="1"/>
          </p:cNvPicPr>
          <p:nvPr/>
        </p:nvPicPr>
        <p:blipFill>
          <a:blip r:embed="rId2"/>
          <a:stretch>
            <a:fillRect/>
          </a:stretch>
        </p:blipFill>
        <p:spPr>
          <a:xfrm>
            <a:off x="457200" y="2398698"/>
            <a:ext cx="7315200" cy="2609243"/>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Section 3.1.1 of the proposal pictures three stages: take in the word, process the content, pick the output word. The first and last should depend on the language; the middle should be shared. The proposal then states the open question this project answers: it is not clear how strong the language component in the representation is, or should be. It also asks whether the spaces of different languages can be joined by a simple map, as older word-vector spaces could.</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Question 1: how strong is the language component, layer by layer?</a:t>
            </a:r>
            <a:endParaRPr sz="1000" b="0" i="0">
              <a:latin typeface="Calibri"/>
            </a:endParaRPr>
          </a:p>
          <a:p>
            <a:pPr algn="l">
              <a:spcAft>
                <a:spcPts val="300"/>
              </a:spcAft>
            </a:pPr>
            <a:r>
              <a:rPr sz="1000" b="0" i="0">
                <a:solidFill>
                  <a:srgbClr val="1A1A1A"/>
                </a:solidFill>
                <a:latin typeface="Calibri"/>
              </a:rPr>
              <a:t>•  Question 2: is English privileged in the middle layers?</a:t>
            </a:r>
            <a:endParaRPr sz="1000" b="0" i="0">
              <a:latin typeface="Calibri"/>
            </a:endParaRPr>
          </a:p>
          <a:p>
            <a:pPr algn="l">
              <a:spcAft>
                <a:spcPts val="300"/>
              </a:spcAft>
            </a:pPr>
            <a:r>
              <a:rPr sz="1000" b="0" i="0">
                <a:solidFill>
                  <a:srgbClr val="1A1A1A"/>
                </a:solidFill>
                <a:latin typeface="Calibri"/>
              </a:rPr>
              <a:t>•  Question 3: how simple is the map between languages?</a:t>
            </a:r>
            <a:endParaRPr sz="1000" b="0" i="0">
              <a:latin typeface="Calibri"/>
            </a:endParaRPr>
          </a:p>
          <a:p>
            <a:pPr algn="l">
              <a:spcAft>
                <a:spcPts val="300"/>
              </a:spcAft>
            </a:pPr>
            <a:r>
              <a:rPr sz="1000" b="0" i="0">
                <a:solidFill>
                  <a:srgbClr val="1A1A1A"/>
                </a:solidFill>
                <a:latin typeface="Calibri"/>
              </a:rPr>
              <a:t>•  Question 4: does any of this show in behavior?</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Step 1: from a sentence to one vector per layer</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1_sentence_to_vectors.png"/>
          <p:cNvPicPr>
            <a:picLocks noChangeAspect="1"/>
          </p:cNvPicPr>
          <p:nvPr/>
        </p:nvPicPr>
        <p:blipFill>
          <a:blip r:embed="rId2"/>
          <a:stretch>
            <a:fillRect/>
          </a:stretch>
        </p:blipFill>
        <p:spPr>
          <a:xfrm>
            <a:off x="457200" y="2483536"/>
            <a:ext cx="7315200" cy="2439566"/>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A sentence is split into tokens. Each token starts as a vector, and every Transformer block rewrites all of them; layer 0 is the embedding output and layer K the last block. At each layer we take the hidden states, one row per token, and average them over the tokens in full precision. That gives one vector per sentence per layer. Nothing is generated; we only read the states of frozen base models.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pooled vector: h̄^(k) = (1/T) Σ_t h_t^(k)</a:t>
            </a:r>
            <a:endParaRPr sz="1000" b="0" i="0">
              <a:latin typeface="Calibri"/>
            </a:endParaRPr>
          </a:p>
          <a:p>
            <a:pPr algn="l">
              <a:spcAft>
                <a:spcPts val="300"/>
              </a:spcAft>
            </a:pPr>
            <a:r>
              <a:rPr sz="1000" b="0" i="0">
                <a:solidFill>
                  <a:srgbClr val="1A1A1A"/>
                </a:solidFill>
                <a:latin typeface="Calibri"/>
              </a:rPr>
              <a:t>•  d = 4,096 for Qwen3-8B; K = 36 blocks, so 37 layers</a:t>
            </a:r>
            <a:endParaRPr sz="1000" b="0" i="0">
              <a:latin typeface="Calibri"/>
            </a:endParaRPr>
          </a:p>
          <a:p>
            <a:pPr algn="l">
              <a:spcAft>
                <a:spcPts val="300"/>
              </a:spcAft>
            </a:pPr>
            <a:r>
              <a:rPr sz="1000" b="0" i="0">
                <a:solidFill>
                  <a:srgbClr val="1A1A1A"/>
                </a:solidFill>
                <a:latin typeface="Calibri"/>
              </a:rPr>
              <a:t>•  fp32 pooling; base (not instruction-tuned) models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Step 3: put every coordinate on the same scale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3_standardize.png"/>
          <p:cNvPicPr>
            <a:picLocks noChangeAspect="1"/>
          </p:cNvPicPr>
          <p:nvPr/>
        </p:nvPicPr>
        <p:blipFill>
          <a:blip r:embed="rId2"/>
          <a:stretch>
            <a:fillRect/>
          </a:stretch>
        </p:blipFill>
        <p:spPr>
          <a:xfrm>
            <a:off x="457200" y="2461952"/>
            <a:ext cx="7315200" cy="2482734"/>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Before any arithmetic, every coordinate is standardized over the whole grid: subtract its mean and divide by its standard deviation, both computed over all 38,400 cells. This is done jointly across languages, never per language, because per-language standardization would remove exactly the language differences we want to measure. It matters: in Qwen3-8B one coordinate, number 2276, carries 92.8 percent of the raw spread at layer 19.</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z_ℓcd = (h_ℓcd − mean_d) / s_d</a:t>
            </a:r>
            <a:endParaRPr sz="1000" b="0" i="0">
              <a:latin typeface="Calibri"/>
            </a:endParaRPr>
          </a:p>
          <a:p>
            <a:pPr algn="l">
              <a:spcAft>
                <a:spcPts val="300"/>
              </a:spcAft>
            </a:pPr>
            <a:r>
              <a:rPr sz="1000" b="0" i="0">
                <a:solidFill>
                  <a:srgbClr val="1A1A1A"/>
                </a:solidFill>
                <a:latin typeface="Calibri"/>
              </a:rPr>
              <a:t>•  without this step the share reads 0.347; with it, 0.608 (Qwen3-8B, layer 19)</a:t>
            </a:r>
            <a:endParaRPr sz="1000" b="0" i="0">
              <a:latin typeface="Calibri"/>
            </a:endParaRPr>
          </a:p>
          <a:p>
            <a:pPr algn="l">
              <a:spcAft>
                <a:spcPts val="300"/>
              </a:spcAft>
            </a:pPr>
            <a:r>
              <a:rPr sz="1000" b="0" i="0">
                <a:solidFill>
                  <a:srgbClr val="1A1A1A"/>
                </a:solidFill>
                <a:latin typeface="Calibri"/>
              </a:rPr>
              <a:t>•  after standardization coordinate 2276 carries 0.02 percent of the language part</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Step 4: three kinds of mean</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4_means.png"/>
          <p:cNvPicPr>
            <a:picLocks noChangeAspect="1"/>
          </p:cNvPicPr>
          <p:nvPr/>
        </p:nvPicPr>
        <p:blipFill>
          <a:blip r:embed="rId2"/>
          <a:stretch>
            <a:fillRect/>
          </a:stretch>
        </p:blipFill>
        <p:spPr>
          <a:xfrm>
            <a:off x="457200" y="2348048"/>
            <a:ext cx="7315200" cy="2710542"/>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From the standardized grid we take three averages. Averaging across a row gives the language mean: what that language looks like on average. Averaging down a column gives the sentence mean: what that sentence looks like across languages. Averaging every cell gives the grand mean. Everything that follows is built from how far these means sit from each other.</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language mean: z̄_ℓ = (1/N) Σ_c z_ℓc</a:t>
            </a:r>
            <a:endParaRPr sz="1000" b="0" i="0">
              <a:latin typeface="Calibri"/>
            </a:endParaRPr>
          </a:p>
          <a:p>
            <a:pPr algn="l">
              <a:spcAft>
                <a:spcPts val="300"/>
              </a:spcAft>
            </a:pPr>
            <a:r>
              <a:rPr sz="1000" b="0" i="0">
                <a:solidFill>
                  <a:srgbClr val="1A1A1A"/>
                </a:solidFill>
                <a:latin typeface="Calibri"/>
              </a:rPr>
              <a:t>•  sentence mean: z̄_c = (1/L) Σ_ℓ z_ℓc</a:t>
            </a:r>
            <a:endParaRPr sz="1000" b="0" i="0">
              <a:latin typeface="Calibri"/>
            </a:endParaRPr>
          </a:p>
          <a:p>
            <a:pPr algn="l">
              <a:spcAft>
                <a:spcPts val="300"/>
              </a:spcAft>
            </a:pPr>
            <a:r>
              <a:rPr sz="1000" b="0" i="0">
                <a:solidFill>
                  <a:srgbClr val="1A1A1A"/>
                </a:solidFill>
                <a:latin typeface="Calibri"/>
              </a:rPr>
              <a:t>•  grand mean: z̄ = (1/LN) Σ_ℓc z_ℓc</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Step 6: the Language-Factor Share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l6_share.png"/>
          <p:cNvPicPr>
            <a:picLocks noChangeAspect="1"/>
          </p:cNvPicPr>
          <p:nvPr/>
        </p:nvPicPr>
        <p:blipFill>
          <a:blip r:embed="rId2"/>
          <a:stretch>
            <a:fillRect/>
          </a:stretch>
        </p:blipFill>
        <p:spPr>
          <a:xfrm>
            <a:off x="457200" y="2409684"/>
            <a:ext cx="7315200" cy="2587270"/>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Language-Factor Share is the language part divided by the language part plus the sentence part. The residual is left out on purpose, so a noisy model does not look language-neutral only because its residual is large. LFS is 1 when only language separates the cells and 0 when only the sentence does. Under pure noise it is not zero but 0.298 on this grid, because averages of random numbers still differ by chance; every real value is read against that number.</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LFS = SS_lang / (SS_lang + SS_con), defined when the sum is positive</a:t>
            </a:r>
            <a:endParaRPr sz="1000" b="0" i="0">
              <a:latin typeface="Calibri"/>
            </a:endParaRPr>
          </a:p>
          <a:p>
            <a:pPr algn="l">
              <a:spcAft>
                <a:spcPts val="300"/>
              </a:spcAft>
            </a:pPr>
            <a:r>
              <a:rPr sz="1000" b="0" i="0">
                <a:solidFill>
                  <a:srgbClr val="1A1A1A"/>
                </a:solidFill>
                <a:latin typeface="Calibri"/>
              </a:rPr>
              <a:t>•  noise expectation (L − 1)/(L + N − 2) = 127/426 = 0.298</a:t>
            </a:r>
            <a:endParaRPr sz="1000" b="0" i="0">
              <a:latin typeface="Calibri"/>
            </a:endParaRPr>
          </a:p>
          <a:p>
            <a:pPr algn="l">
              <a:spcAft>
                <a:spcPts val="300"/>
              </a:spcAft>
            </a:pPr>
            <a:r>
              <a:rPr sz="1000" b="0" i="0">
                <a:solidFill>
                  <a:srgbClr val="1A1A1A"/>
                </a:solidFill>
                <a:latin typeface="Calibri"/>
              </a:rPr>
              <a:t>•  Qwen3-8B, layer 19: SS_lang 55.2 million, SS_con 35.6 million, residual 66.5 million (left out)</a:t>
            </a:r>
            <a:endParaRPr sz="1000" b="0" i="0">
              <a:latin typeface="Calibri"/>
            </a:endParaRPr>
          </a:p>
          <a:p>
            <a:pPr algn="l">
              <a:spcAft>
                <a:spcPts val="300"/>
              </a:spcAft>
            </a:pPr>
            <a:r>
              <a:rPr sz="1000" b="0" i="0">
                <a:solidFill>
                  <a:srgbClr val="1A1A1A"/>
                </a:solidFill>
                <a:latin typeface="Calibri"/>
              </a:rPr>
              <a:t>•  LFS = 55.2 / (55.2 + 35.6) = 0.608; as shares of the total: 0.351, 0.226, 0.423</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Step 7: repeat at every layer and read the curve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1_profiles.png"/>
          <p:cNvPicPr>
            <a:picLocks noChangeAspect="1"/>
          </p:cNvPicPr>
          <p:nvPr/>
        </p:nvPicPr>
        <p:blipFill>
          <a:blip r:embed="rId2"/>
          <a:stretch>
            <a:fillRect/>
          </a:stretch>
        </p:blipFill>
        <p:spPr>
          <a:xfrm>
            <a:off x="457200" y="1188720"/>
            <a:ext cx="7315200" cy="3663013"/>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computation is repeated at every layer, giving one share per layer: the depth profile. At the input the vectors are still the words, so language decides where they land and the share is near 1. In the middle the model has worked out what is being said, so the same sentence lands close together across languages and the share falls. At the output the model must produce a word in the right language, so the share rises again. Three numbers summarize a profile: the minimum layer, the minimum share, and the dip depth, the layer-0 value minus the minimum.</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Qwen3-8B: 0.945 at layer 0, 0.608 at layer 19, 0.958 at layer 36; dip depth 0.336</a:t>
            </a:r>
            <a:endParaRPr sz="1000" b="0" i="0">
              <a:latin typeface="Calibri"/>
            </a:endParaRPr>
          </a:p>
          <a:p>
            <a:pPr algn="l">
              <a:spcAft>
                <a:spcPts val="300"/>
              </a:spcAft>
            </a:pPr>
            <a:r>
              <a:rPr sz="1000" b="0" i="0">
                <a:solidFill>
                  <a:srgbClr val="1A1A1A"/>
                </a:solidFill>
                <a:latin typeface="Calibri"/>
              </a:rPr>
              <a:t>•  band: the range of 17 models; every one has this shape</a:t>
            </a:r>
            <a:endParaRPr sz="1000" b="0" i="0">
              <a:latin typeface="Calibri"/>
            </a:endParaRPr>
          </a:p>
          <a:p>
            <a:pPr algn="l">
              <a:spcAft>
                <a:spcPts val="300"/>
              </a:spcAft>
            </a:pPr>
            <a:r>
              <a:rPr sz="1000" b="0" i="0">
                <a:solidFill>
                  <a:srgbClr val="1A1A1A"/>
                </a:solidFill>
                <a:latin typeface="Calibri"/>
              </a:rPr>
              <a:t>•  expected value under pure noise: 0.298; language never fully leaves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1900" b="1">
                <a:solidFill>
                  <a:srgbClr val="0B2A4A"/>
                </a:solidFill>
                <a:latin typeface="Calibri"/>
              </a:rPr>
              <a:t>Appendix, Experiment 1: 17 models, every profile has an interior minimum</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2_dip_depths.png"/>
          <p:cNvPicPr>
            <a:picLocks noChangeAspect="1"/>
          </p:cNvPicPr>
          <p:nvPr/>
        </p:nvPicPr>
        <p:blipFill>
          <a:blip r:embed="rId2"/>
          <a:stretch>
            <a:fillRect/>
          </a:stretch>
        </p:blipFill>
        <p:spPr>
          <a:xfrm>
            <a:off x="457200" y="1188720"/>
            <a:ext cx="7315200" cy="476742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We ran the measurement on 17 open base models from 11 families. All 17 profiles have an interior minimum with both ends higher. What differs is how deep: from 0.039 for BLOOM-1.7B to 0.336 for Qwen3-8B, a nine-fold range. To see how much a dip depth depends on which 300 sentences were used, we resampled 2,000 sets of 300 from 1,500 stored sentences. The bars are the resulting 95 percent intervals: narrow for 12 of 14 models, wide only for the two whose minimum sits at an early layer.</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17 of 17 dip and recover; 19 of 19 in the 19-model expansion set</a:t>
            </a:r>
            <a:endParaRPr sz="1000" b="0" i="0">
              <a:latin typeface="Calibri"/>
            </a:endParaRPr>
          </a:p>
          <a:p>
            <a:pPr algn="l">
              <a:spcAft>
                <a:spcPts val="300"/>
              </a:spcAft>
            </a:pPr>
            <a:r>
              <a:rPr sz="1000" b="0" i="0">
                <a:solidFill>
                  <a:srgbClr val="1A1A1A"/>
                </a:solidFill>
                <a:latin typeface="Calibri"/>
              </a:rPr>
              <a:t>•  dip depth 0.039 (BLOOM-1.7B) to 0.336 (Qwen3-8B)</a:t>
            </a:r>
            <a:endParaRPr sz="1000" b="0" i="0">
              <a:latin typeface="Calibri"/>
            </a:endParaRPr>
          </a:p>
          <a:p>
            <a:pPr algn="l">
              <a:spcAft>
                <a:spcPts val="300"/>
              </a:spcAft>
            </a:pPr>
            <a:r>
              <a:rPr sz="1000" b="0" i="0">
                <a:solidFill>
                  <a:srgbClr val="1A1A1A"/>
                </a:solidFill>
                <a:latin typeface="Calibri"/>
              </a:rPr>
              <a:t>•  interval half-widths 0.004 to 0.020 for 12 models; 0.045 (Mistral-7B) and 0.059 (Salamandra-2B)</a:t>
            </a:r>
            <a:endParaRPr sz="1000" b="0" i="0">
              <a:latin typeface="Calibri"/>
            </a:endParaRPr>
          </a:p>
          <a:p>
            <a:pPr algn="l">
              <a:spcAft>
                <a:spcPts val="300"/>
              </a:spcAft>
            </a:pPr>
            <a:r>
              <a:rPr sz="1000" b="0" i="0">
                <a:solidFill>
                  <a:srgbClr val="1A1A1A"/>
                </a:solidFill>
                <a:latin typeface="Calibri"/>
              </a:rPr>
              <a:t>•  model ordering agrees with the full grid at Spearman ≥ 0.90 in 2,000 of 2,000 resamples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Experiment 2: does size decide the dip?</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3_size_vs_family.png"/>
          <p:cNvPicPr>
            <a:picLocks noChangeAspect="1"/>
          </p:cNvPicPr>
          <p:nvPr/>
        </p:nvPicPr>
        <p:blipFill>
          <a:blip r:embed="rId2"/>
          <a:stretch>
            <a:fillRect/>
          </a:stretch>
        </p:blipFill>
        <p:spPr>
          <a:xfrm>
            <a:off x="457200" y="1188720"/>
            <a:ext cx="7315200" cy="413938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Within one family the dip deepens with size: Qwen3 goes 0.206, 0.213, 0.314, 0.336 from 0.6B to 8B. But families at the same size differ far more than sizes within a family. Qwen3-1.7B dips deeper than every 7B model from another lab except Llama-3.1-8B; BLOOM, trained on a balanced 46-language mix, barely dips at either size; Salamandra dips more at 2B than at 7B. So dip depth is set by how a model was trained more than by how big it is. This is a descriptive comparison: we do not separate data, tokenizer, and training recipe.</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Qwen3: 0.206 → 0.213 → 0.314 → 0.336</a:t>
            </a:r>
            <a:endParaRPr sz="1000" b="0" i="0">
              <a:latin typeface="Calibri"/>
            </a:endParaRPr>
          </a:p>
          <a:p>
            <a:pPr algn="l">
              <a:spcAft>
                <a:spcPts val="300"/>
              </a:spcAft>
            </a:pPr>
            <a:r>
              <a:rPr sz="1000" b="0" i="0">
                <a:solidFill>
                  <a:srgbClr val="1A1A1A"/>
                </a:solidFill>
                <a:latin typeface="Calibri"/>
              </a:rPr>
              <a:t>•  BLOOM: 0.039 (1.7B) and 0.043 (7.1B)</a:t>
            </a:r>
            <a:endParaRPr sz="1000" b="0" i="0">
              <a:latin typeface="Calibri"/>
            </a:endParaRPr>
          </a:p>
          <a:p>
            <a:pPr algn="l">
              <a:spcAft>
                <a:spcPts val="300"/>
              </a:spcAft>
            </a:pPr>
            <a:r>
              <a:rPr sz="1000" b="0" i="0">
                <a:solidFill>
                  <a:srgbClr val="1A1A1A"/>
                </a:solidFill>
                <a:latin typeface="Calibri"/>
              </a:rPr>
              <a:t>•  Salamandra: 0.254 (2B) versus 0.180 (7B)</a:t>
            </a:r>
            <a:endParaRPr sz="1000" b="0" i="0">
              <a:latin typeface="Calibri"/>
            </a:endParaRPr>
          </a:p>
          <a:p>
            <a:pPr algn="l">
              <a:spcAft>
                <a:spcPts val="300"/>
              </a:spcAft>
            </a:pPr>
            <a:r>
              <a:rPr sz="1000" b="0" i="0">
                <a:solidFill>
                  <a:srgbClr val="1A1A1A"/>
                </a:solidFill>
                <a:latin typeface="Calibri"/>
              </a:rPr>
              <a:t>•  nine-fold range across families at similar sizes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1900" b="1">
                <a:solidFill>
                  <a:srgbClr val="0B2A4A"/>
                </a:solidFill>
                <a:latin typeface="Calibri"/>
              </a:rPr>
              <a:t>Appendix, Experiment 5: does the model use context given in another language?</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6_context_test.png"/>
          <p:cNvPicPr>
            <a:picLocks noChangeAspect="1"/>
          </p:cNvPicPr>
          <p:nvPr/>
        </p:nvPicPr>
        <p:blipFill>
          <a:blip r:embed="rId2"/>
          <a:stretch>
            <a:fillRect/>
          </a:stretch>
        </p:blipFill>
        <p:spPr>
          <a:xfrm>
            <a:off x="457200" y="1188720"/>
            <a:ext cx="7315200" cy="3285477"/>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proposal's third question is whether information given in one language is used in another. We took an English sentence and the sentence before it from the same news story, translated into 41 languages. We measured the model's loss on the English sentence with the true foreign-language context, and with a context of the same language and length taken from a different story. The difference is the benefit of the context, normalized by the same benefit with English context. The mismatched control matters, because foreign text from the wrong story hurts.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100 sentence pairs from 100 documents; 41 context languages</a:t>
            </a:r>
            <a:endParaRPr sz="1000" b="0" i="0">
              <a:latin typeface="Calibri"/>
            </a:endParaRPr>
          </a:p>
          <a:p>
            <a:pPr algn="l">
              <a:spcAft>
                <a:spcPts val="300"/>
              </a:spcAft>
            </a:pPr>
            <a:r>
              <a:rPr sz="1000" b="0" i="0">
                <a:solidFill>
                  <a:srgbClr val="1A1A1A"/>
                </a:solidFill>
                <a:latin typeface="Calibri"/>
              </a:rPr>
              <a:t>•  19 models from 13 families; 157,700 scored sequences</a:t>
            </a:r>
            <a:endParaRPr sz="1000" b="0" i="0">
              <a:latin typeface="Calibri"/>
            </a:endParaRPr>
          </a:p>
          <a:p>
            <a:pPr algn="l">
              <a:spcAft>
                <a:spcPts val="300"/>
              </a:spcAft>
            </a:pPr>
            <a:r>
              <a:rPr sz="1000" b="0" i="0">
                <a:solidFill>
                  <a:srgbClr val="1A1A1A"/>
                </a:solidFill>
                <a:latin typeface="Calibri"/>
              </a:rPr>
              <a:t>•  teacher-forced fp32 loss on the target tokens only</a:t>
            </a:r>
            <a:endParaRPr sz="1000" b="0" i="0">
              <a:latin typeface="Calibri"/>
            </a:endParaRPr>
          </a:p>
          <a:p>
            <a:pPr algn="l">
              <a:spcAft>
                <a:spcPts val="300"/>
              </a:spcAft>
            </a:pPr>
            <a:r>
              <a:rPr sz="1000" b="0" i="0">
                <a:solidFill>
                  <a:srgbClr val="1A1A1A"/>
                </a:solidFill>
                <a:latin typeface="Calibri"/>
              </a:rPr>
              <a:t>•  protocol and predictions frozen before the run</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Experiment 6: two behaviors, the same three measures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5_two_behaviors.png"/>
          <p:cNvPicPr>
            <a:picLocks noChangeAspect="1"/>
          </p:cNvPicPr>
          <p:nvPr/>
        </p:nvPicPr>
        <p:blipFill>
          <a:blip r:embed="rId2"/>
          <a:stretch>
            <a:fillRect/>
          </a:stretch>
        </p:blipFill>
        <p:spPr>
          <a:xfrm>
            <a:off x="457200" y="2432431"/>
            <a:ext cx="7315200" cy="2541776"/>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The same three measures tested against two behaviors. Left: pooled multiple-choice accuracy (Belebele and INCLUDE) on 33 models, 70 languages, 1,740 rows after covariate filtering. No measure predicts it well, LFS least of all. Right: the foreign-context benefit on 19 models, where all three are clearly associated. Part of the reason is the target: two benchmarks on the same cells agree on only about a third of their adjusted variation. We report the null result as a limit, not a defect to tune away.</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pooled accuracy: 1 − LFS-VC 0.04 [−0.05, 0.12]; MEXA 0.24; AaR 0.10</a:t>
            </a:r>
            <a:endParaRPr sz="1000" b="0" i="0">
              <a:latin typeface="Calibri"/>
            </a:endParaRPr>
          </a:p>
          <a:p>
            <a:pPr algn="l">
              <a:spcAft>
                <a:spcPts val="300"/>
              </a:spcAft>
            </a:pPr>
            <a:r>
              <a:rPr sz="1000" b="0" i="0">
                <a:solidFill>
                  <a:srgbClr val="1A1A1A"/>
                </a:solidFill>
                <a:latin typeface="Calibri"/>
              </a:rPr>
              <a:t>•  foreign-context benefit: 0.51, 0.59, 0.44</a:t>
            </a:r>
            <a:endParaRPr sz="1000" b="0" i="0">
              <a:latin typeface="Calibri"/>
            </a:endParaRPr>
          </a:p>
          <a:p>
            <a:pPr algn="l">
              <a:spcAft>
                <a:spcPts val="300"/>
              </a:spcAft>
            </a:pPr>
            <a:r>
              <a:rPr sz="1000" b="0" i="0">
                <a:solidFill>
                  <a:srgbClr val="1A1A1A"/>
                </a:solidFill>
                <a:latin typeface="Calibri"/>
              </a:rPr>
              <a:t>•  two benchmarks agree on 0.315 of their adjusted residual variation</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how the measurement was checked</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7_checks.png"/>
          <p:cNvPicPr>
            <a:picLocks noChangeAspect="1"/>
          </p:cNvPicPr>
          <p:nvPr/>
        </p:nvPicPr>
        <p:blipFill>
          <a:blip r:embed="rId2"/>
          <a:stretch>
            <a:fillRect/>
          </a:stretch>
        </p:blipFill>
        <p:spPr>
          <a:xfrm>
            <a:off x="457200" y="1188720"/>
            <a:ext cx="7315200" cy="326709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Before trusting the measurement we tried to break it five ways, each with predictions written down first. A second corpus, FLORES-200 with Wikipedia sentences: 17 of 17 profiles dip and recover, depth ordering Spearman 0.92. Resampled sentences: the intervals of Experiment 1, ordering preserved in every draw. Sealed predictions for two unseen families, SmolLM2 and Falcon3: 4 of 4 held. Injected faults: shifts and rotations recovered, uniform shrinking invisible to any ratio. Instruction tuning: six base and instruct pairs move dip depth by at most 0.01.</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FLORES-200: 17 of 17; Spearman 0.92; median |Δ depth| 0.011; granite the outlier (0.190 → 0.074)</a:t>
            </a:r>
            <a:endParaRPr sz="1000" b="0" i="0">
              <a:latin typeface="Calibri"/>
            </a:endParaRPr>
          </a:p>
          <a:p>
            <a:pPr algn="l">
              <a:spcAft>
                <a:spcPts val="300"/>
              </a:spcAft>
            </a:pPr>
            <a:r>
              <a:rPr sz="1000" b="0" i="0">
                <a:solidFill>
                  <a:srgbClr val="1A1A1A"/>
                </a:solidFill>
                <a:latin typeface="Calibri"/>
              </a:rPr>
              <a:t>•  one frozen prediction of twelve failed: the precision bound (Mistral-7B 0.045, Salamandra-2B 0.059 above 0.03)</a:t>
            </a:r>
            <a:endParaRPr sz="1000" b="0" i="0">
              <a:latin typeface="Calibri"/>
            </a:endParaRPr>
          </a:p>
          <a:p>
            <a:pPr algn="l">
              <a:spcAft>
                <a:spcPts val="300"/>
              </a:spcAft>
            </a:pPr>
            <a:r>
              <a:rPr sz="1000" b="0" i="0">
                <a:solidFill>
                  <a:srgbClr val="1A1A1A"/>
                </a:solidFill>
                <a:latin typeface="Calibri"/>
              </a:rPr>
              <a:t>•  SmolLM2 0.068 (predicted ≤ 0.15); Falcon3 0.140 (predicted intermediate)</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what this answers in the proposal</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4_answers.png"/>
          <p:cNvPicPr>
            <a:picLocks noChangeAspect="1"/>
          </p:cNvPicPr>
          <p:nvPr/>
        </p:nvPicPr>
        <p:blipFill>
          <a:blip r:embed="rId2"/>
          <a:stretch>
            <a:fillRect/>
          </a:stretch>
        </p:blipFill>
        <p:spPr>
          <a:xfrm>
            <a:off x="457200" y="1188720"/>
            <a:ext cx="7315200" cy="3073775"/>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Back to the proposal's questions. How strong is the language component, layer by layer? Large everywhere and smallest at an interior layer, with the same shape in all 36 measured profiles from 33 models. Is the shared middle English? No: the multilingual average predicts 113 to 124 of 127 languages better than English does. Is the map between languages simple? Yes: an offset plus a scale removes 63 to 97 percent of the misalignment. Does it show in behavior? Yes for foreign-language context use; no for pooled test scores.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profiles: 36 of 36 measured (33 models)</a:t>
            </a:r>
            <a:endParaRPr sz="1000" b="0" i="0">
              <a:latin typeface="Calibri"/>
            </a:endParaRPr>
          </a:p>
          <a:p>
            <a:pPr algn="l">
              <a:spcAft>
                <a:spcPts val="300"/>
              </a:spcAft>
            </a:pPr>
            <a:r>
              <a:rPr sz="1000" b="0" i="0">
                <a:solidFill>
                  <a:srgbClr val="1A1A1A"/>
                </a:solidFill>
                <a:latin typeface="Calibri"/>
              </a:rPr>
              <a:t>•  English privileged: no, 113 to 124 of 127</a:t>
            </a:r>
            <a:endParaRPr sz="1000" b="0" i="0">
              <a:latin typeface="Calibri"/>
            </a:endParaRPr>
          </a:p>
          <a:p>
            <a:pPr algn="l">
              <a:spcAft>
                <a:spcPts val="300"/>
              </a:spcAft>
            </a:pPr>
            <a:r>
              <a:rPr sz="1000" b="0" i="0">
                <a:solidFill>
                  <a:srgbClr val="1A1A1A"/>
                </a:solidFill>
                <a:latin typeface="Calibri"/>
              </a:rPr>
              <a:t>•  map: offset + scale, 63 to 97 percent</a:t>
            </a:r>
            <a:endParaRPr sz="1000" b="0" i="0">
              <a:latin typeface="Calibri"/>
            </a:endParaRPr>
          </a:p>
          <a:p>
            <a:pPr algn="l">
              <a:spcAft>
                <a:spcPts val="300"/>
              </a:spcAft>
            </a:pPr>
            <a:r>
              <a:rPr sz="1000" b="0" i="0">
                <a:solidFill>
                  <a:srgbClr val="1A1A1A"/>
                </a:solidFill>
                <a:latin typeface="Calibri"/>
              </a:rPr>
              <a:t>•  behavior: 0.51 for context use; 0.04 for pooled scores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the reporting rule and the limits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5_limits.png"/>
          <p:cNvPicPr>
            <a:picLocks noChangeAspect="1"/>
          </p:cNvPicPr>
          <p:nvPr/>
        </p:nvPicPr>
        <p:blipFill>
          <a:blip r:embed="rId2"/>
          <a:stretch>
            <a:fillRect/>
          </a:stretch>
        </p:blipFill>
        <p:spPr>
          <a:xfrm>
            <a:off x="457200" y="2387188"/>
            <a:ext cx="7315200" cy="2632263"/>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Two limits, found on purpose. A share is blind to size, so the raw components are always printed beside it. And LFS is not a training objective: across 28 training conditions at three seeds on one small model, objectives that pushed LFS down moved tail alignment down with it, and training on LFS itself doubled the dip while Belebele fell 2.9 points. Its place in the next aim is design, monitoring, and evaluation, not the loss.</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28 conditions × 3 seeds on Qwen3-0.6B</a:t>
            </a:r>
            <a:endParaRPr sz="1000" b="0" i="0">
              <a:latin typeface="Calibri"/>
            </a:endParaRPr>
          </a:p>
          <a:p>
            <a:pPr algn="l">
              <a:spcAft>
                <a:spcPts val="300"/>
              </a:spcAft>
            </a:pPr>
            <a:r>
              <a:rPr sz="1000" b="0" i="0">
                <a:solidFill>
                  <a:srgbClr val="1A1A1A"/>
                </a:solidFill>
                <a:latin typeface="Calibri"/>
              </a:rPr>
              <a:t>•  Pearson +0.92 between LFS and tail alignment over 18 condition-seed points (six conditions)</a:t>
            </a:r>
            <a:endParaRPr sz="1000" b="0" i="0">
              <a:latin typeface="Calibri"/>
            </a:endParaRPr>
          </a:p>
          <a:p>
            <a:pPr algn="l">
              <a:spcAft>
                <a:spcPts val="300"/>
              </a:spcAft>
            </a:pPr>
            <a:r>
              <a:rPr sz="1000" b="0" i="0">
                <a:solidFill>
                  <a:srgbClr val="1A1A1A"/>
                </a:solidFill>
                <a:latin typeface="Calibri"/>
              </a:rPr>
              <a:t>•  LFS as a loss: dip doubled in 400 steps, Belebele −2.9 points</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85800"/>
          </a:xfrm>
          <a:prstGeom prst="rect">
            <a:avLst/>
          </a:prstGeom>
          <a:noFill/>
        </p:spPr>
        <p:txBody>
          <a:bodyPr wrap="square" anchor="ctr" lIns="54864" rIns="54864" tIns="36576" bIns="36576">
            <a:spAutoFit/>
          </a:bodyPr>
          <a:lstStyle/>
          <a:p>
            <a:pPr algn="l">
              <a:spcAft>
                <a:spcPts val="0"/>
              </a:spcAft>
            </a:pPr>
            <a:r>
              <a:rPr sz="2400" b="1">
                <a:solidFill>
                  <a:srgbClr val="0B2A4A"/>
                </a:solidFill>
                <a:latin typeface="Calibri"/>
              </a:rPr>
              <a:t>Appendix: what Aim 2 gets from this</a:t>
            </a:r>
          </a:p>
        </p:txBody>
      </p:sp>
      <p:sp>
        <p:nvSpPr>
          <p:cNvPr id="3" name="Rectangle 2"/>
          <p:cNvSpPr/>
          <p:nvPr/>
        </p:nvSpPr>
        <p:spPr>
          <a:xfrm>
            <a:off x="512064" y="987552"/>
            <a:ext cx="1005840" cy="4572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6_next_aim.png"/>
          <p:cNvPicPr>
            <a:picLocks noChangeAspect="1"/>
          </p:cNvPicPr>
          <p:nvPr/>
        </p:nvPicPr>
        <p:blipFill>
          <a:blip r:embed="rId2"/>
          <a:stretch>
            <a:fillRect/>
          </a:stretch>
        </p:blipFill>
        <p:spPr>
          <a:xfrm>
            <a:off x="457200" y="2466190"/>
            <a:ext cx="7315200" cy="2474258"/>
          </a:xfrm>
          <a:prstGeom prst="rect">
            <a:avLst/>
          </a:prstGeom>
        </p:spPr>
      </p:pic>
      <p:sp>
        <p:nvSpPr>
          <p:cNvPr id="5" name="Rectangle 4"/>
          <p:cNvSpPr/>
          <p:nvPr/>
        </p:nvSpPr>
        <p:spPr>
          <a:xfrm>
            <a:off x="7973568" y="1234440"/>
            <a:ext cx="10972" cy="50749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188720"/>
            <a:ext cx="3520440" cy="2971800"/>
          </a:xfrm>
          <a:prstGeom prst="rect">
            <a:avLst/>
          </a:prstGeom>
          <a:noFill/>
        </p:spPr>
        <p:txBody>
          <a:bodyPr wrap="square" anchor="t" lIns="54864" rIns="54864" tIns="36576" bIns="36576">
            <a:noAutofit/>
          </a:bodyPr>
          <a:lstStyle/>
          <a:p>
            <a:pPr algn="l">
              <a:spcAft>
                <a:spcPts val="0"/>
              </a:spcAft>
            </a:pPr>
            <a:r>
              <a:rPr sz="1200" b="0" i="0">
                <a:solidFill>
                  <a:srgbClr val="1A1A1A"/>
                </a:solidFill>
                <a:latin typeface="Calibri"/>
              </a:rPr>
              <a:t>What this hands to Aim 2. Where to act: the interior layer with the smallest language share, layer 19 for Qwen3-8B and layer 2 for Mistral-7B. What to act on: the per-language offset, which carries most of the language leftover; removing it from saved states deleted 97 percent of the language part in a pre-test that needed no training. How to check a fix: print the raw components and run the behavioral test, never the share alone.</a:t>
            </a:r>
            <a:endParaRPr sz="1200" b="0" i="0">
              <a:latin typeface="Calibri"/>
            </a:endParaRPr>
          </a:p>
        </p:txBody>
      </p:sp>
      <p:sp>
        <p:nvSpPr>
          <p:cNvPr id="7" name="Rectangle 6"/>
          <p:cNvSpPr/>
          <p:nvPr/>
        </p:nvSpPr>
        <p:spPr>
          <a:xfrm>
            <a:off x="8229600" y="4297680"/>
            <a:ext cx="3520440" cy="201168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0" y="4297680"/>
            <a:ext cx="54864" cy="2011680"/>
          </a:xfrm>
          <a:prstGeom prst="rect">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4370832"/>
            <a:ext cx="3291840" cy="292608"/>
          </a:xfrm>
          <a:prstGeom prst="rect">
            <a:avLst/>
          </a:prstGeom>
          <a:noFill/>
        </p:spPr>
        <p:txBody>
          <a:bodyPr wrap="square" anchor="t" lIns="54864" rIns="54864" tIns="36576" bIns="36576">
            <a:spAutoFit/>
          </a:bodyPr>
          <a:lstStyle/>
          <a:p>
            <a:pPr algn="l">
              <a:spcAft>
                <a:spcPts val="0"/>
              </a:spcAft>
            </a:pPr>
            <a:r>
              <a:rPr sz="1050" b="1">
                <a:solidFill>
                  <a:srgbClr val="0B2A4A"/>
                </a:solidFill>
                <a:latin typeface="Calibri"/>
              </a:rPr>
              <a:t>Key numbers</a:t>
            </a:r>
          </a:p>
        </p:txBody>
      </p:sp>
      <p:sp>
        <p:nvSpPr>
          <p:cNvPr id="10" name="TextBox 9"/>
          <p:cNvSpPr txBox="1"/>
          <p:nvPr/>
        </p:nvSpPr>
        <p:spPr>
          <a:xfrm>
            <a:off x="8366760" y="4681728"/>
            <a:ext cx="3291840" cy="1554480"/>
          </a:xfrm>
          <a:prstGeom prst="rect">
            <a:avLst/>
          </a:prstGeom>
          <a:noFill/>
        </p:spPr>
        <p:txBody>
          <a:bodyPr wrap="square" anchor="t" lIns="54864" rIns="54864" tIns="36576" bIns="36576">
            <a:noAutofit/>
          </a:bodyPr>
          <a:lstStyle/>
          <a:p>
            <a:pPr algn="l">
              <a:spcAft>
                <a:spcPts val="300"/>
              </a:spcAft>
            </a:pPr>
            <a:r>
              <a:rPr sz="1000" b="0" i="0">
                <a:solidFill>
                  <a:srgbClr val="1A1A1A"/>
                </a:solidFill>
                <a:latin typeface="Calibri"/>
              </a:rPr>
              <a:t>•  dip layers: Qwen3-8B 19 of 36, Mistral-7B 2 of 32</a:t>
            </a:r>
            <a:endParaRPr sz="1000" b="0" i="0">
              <a:latin typeface="Calibri"/>
            </a:endParaRPr>
          </a:p>
          <a:p>
            <a:pPr algn="l">
              <a:spcAft>
                <a:spcPts val="300"/>
              </a:spcAft>
            </a:pPr>
            <a:r>
              <a:rPr sz="1000" b="0" i="0">
                <a:solidFill>
                  <a:srgbClr val="1A1A1A"/>
                </a:solidFill>
                <a:latin typeface="Calibri"/>
              </a:rPr>
              <a:t>•  offset removal: 97 percent of SS_lang gone, offline, no GPU</a:t>
            </a:r>
            <a:endParaRPr sz="1000" b="0" i="0">
              <a:latin typeface="Calibri"/>
            </a:endParaRPr>
          </a:p>
          <a:p>
            <a:pPr algn="l">
              <a:spcAft>
                <a:spcPts val="300"/>
              </a:spcAft>
            </a:pPr>
            <a:r>
              <a:rPr sz="1000" b="0" i="0">
                <a:solidFill>
                  <a:srgbClr val="1A1A1A"/>
                </a:solidFill>
                <a:latin typeface="Calibri"/>
              </a:rPr>
              <a:t>•  checks: SS_lang, SS_con, residual, norm, and a behavioral test</a:t>
            </a:r>
            <a:endParaRPr sz="1000" b="0" i="0">
              <a:latin typeface="Calibri"/>
            </a:endParaRPr>
          </a:p>
        </p:txBody>
      </p:sp>
      <p:sp>
        <p:nvSpPr>
          <p:cNvPr id="11" name="TextBox 10"/>
          <p:cNvSpPr txBox="1"/>
          <p:nvPr/>
        </p:nvSpPr>
        <p:spPr>
          <a:xfrm>
            <a:off x="457200" y="6473952"/>
            <a:ext cx="7315200" cy="274320"/>
          </a:xfrm>
          <a:prstGeom prst="rect">
            <a:avLst/>
          </a:prstGeom>
          <a:noFill/>
        </p:spPr>
        <p:txBody>
          <a:bodyPr wrap="square" anchor="t" lIns="54864" rIns="54864" tIns="36576" bIns="36576">
            <a:spAutoFit/>
          </a:bodyPr>
          <a:lstStyle/>
          <a:p>
            <a:pPr algn="l">
              <a:spcAft>
                <a:spcPts val="0"/>
              </a:spcAft>
            </a:pPr>
            <a:r>
              <a:rPr sz="900" b="0">
                <a:solidFill>
                  <a:srgbClr val="666666"/>
                </a:solidFill>
                <a:latin typeface="Calibri"/>
              </a:rPr>
              <a:t>Measuring the Language Share of Multilingual Representations</a:t>
            </a:r>
          </a:p>
        </p:txBody>
      </p:sp>
      <p:sp>
        <p:nvSpPr>
          <p:cNvPr id="12" name="TextBox 11"/>
          <p:cNvSpPr txBox="1"/>
          <p:nvPr/>
        </p:nvSpPr>
        <p:spPr>
          <a:xfrm>
            <a:off x="10728655" y="6473952"/>
            <a:ext cx="1005840" cy="274320"/>
          </a:xfrm>
          <a:prstGeom prst="rect">
            <a:avLst/>
          </a:prstGeom>
          <a:noFill/>
        </p:spPr>
        <p:txBody>
          <a:bodyPr wrap="square" anchor="t" lIns="54864" rIns="54864" tIns="36576" bIns="36576">
            <a:spAutoFit/>
          </a:bodyPr>
          <a:lstStyle/>
          <a:p>
            <a:pPr algn="r">
              <a:spcAft>
                <a:spcPts val="0"/>
              </a:spcAft>
            </a:pPr>
            <a:r>
              <a:rPr sz="900" b="0">
                <a:solidFill>
                  <a:srgbClr val="666666"/>
                </a:solidFill>
                <a:latin typeface="Calibri"/>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